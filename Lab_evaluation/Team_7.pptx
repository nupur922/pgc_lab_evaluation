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D92FFCC-48CC-0557-C645-3D9B5F76A835}">
          <p14:sldIdLst>
            <p14:sldId id="256"/>
          </p14:sldIdLst>
        </p14:section>
        <p14:section name="Problem and Workload" id="{521D2C17-49A0-53C8-049D-BA5D7B80C06C}">
          <p14:sldIdLst>
            <p14:sldId id="257"/>
            <p14:sldId id="258"/>
          </p14:sldIdLst>
        </p14:section>
        <p14:section name="Design" id="{E4795617-34A0-FFF7-2F5E-EC718A322C55}">
          <p14:sldIdLst>
            <p14:sldId id="259"/>
            <p14:sldId id="260"/>
            <p14:sldId id="261"/>
            <p14:sldId id="262"/>
          </p14:sldIdLst>
        </p14:section>
        <p14:section name="Method and Verification" id="{52989D4C-34C0-F885-1441-10B1264785FD}">
          <p14:sldIdLst>
            <p14:sldId id="263"/>
            <p14:sldId id="264"/>
          </p14:sldIdLst>
        </p14:section>
        <p14:section name="Results" id="{43EEEFC3-6D42-EECC-BBC5-96A6328BC5F4}">
          <p14:sldIdLst>
            <p14:sldId id="265"/>
            <p14:sldId id="266"/>
            <p14:sldId id="267"/>
            <p14:sldId id="268"/>
          </p14:sldIdLst>
        </p14:section>
        <p14:section name="Wrap-up" id="{F4C08110-D7E8-3546-CB54-325185FED2FB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F2A43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0F2A43"/>
                </a:solidFill>
                <a:latin typeface="+mn-lt"/>
              </a:rPr>
              <a:t>OpenMP time vs threads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time (ms)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2A4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42.02</c:v>
                </c:pt>
                <c:pt idx="1">
                  <c:v>20.81</c:v>
                </c:pt>
                <c:pt idx="2">
                  <c:v>10.76</c:v>
                </c:pt>
                <c:pt idx="3">
                  <c:v>10.210000000000001</c:v>
                </c:pt>
                <c:pt idx="4">
                  <c:v>8.44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B0-4EF5-908E-06F5407E8A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7083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7083"/>
                    </a:solidFill>
                    <a:latin typeface="+mn-lt"/>
                  </a:rPr>
                  <a:t>Threads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F2A43"/>
                </a:solidFill>
                <a:latin typeface="+mn-lt"/>
              </a:defRPr>
            </a:pPr>
            <a:r>
              <a:rPr lang="en-IN" sz="1400" b="1" i="0" u="none" strike="noStrike">
                <a:solidFill>
                  <a:srgbClr val="0F2A43"/>
                </a:solidFill>
                <a:latin typeface="+mn-lt"/>
              </a:rPr>
              <a:t>Efficiency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1024²</c:v>
                </c:pt>
              </c:strCache>
            </c:strRef>
          </c:tx>
          <c:spPr>
            <a:ln w="38100" cap="flat">
              <a:solidFill>
                <a:srgbClr val="9FB4C4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9FB4C4"/>
              </a:solidFill>
              <a:ln w="9525" cap="flat">
                <a:solidFill>
                  <a:srgbClr val="9FB4C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83.6</c:v>
                </c:pt>
                <c:pt idx="2">
                  <c:v>75.599999999999994</c:v>
                </c:pt>
                <c:pt idx="3">
                  <c:v>61</c:v>
                </c:pt>
                <c:pt idx="4">
                  <c:v>32.799999999999997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04D-43EF-9346-75A94C50A6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2048²</c:v>
                </c:pt>
              </c:strCache>
            </c:strRef>
          </c:tx>
          <c:spPr>
            <a:ln w="38100" cap="flat">
              <a:solidFill>
                <a:srgbClr val="2E86AB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105.4</c:v>
                </c:pt>
                <c:pt idx="2">
                  <c:v>77.7</c:v>
                </c:pt>
                <c:pt idx="3">
                  <c:v>48.4</c:v>
                </c:pt>
                <c:pt idx="4">
                  <c:v>30.3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04D-43EF-9346-75A94C50A6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4096²</c:v>
                </c:pt>
              </c:strCache>
            </c:strRef>
          </c:tx>
          <c:spPr>
            <a:ln w="38100" cap="flat">
              <a:solidFill>
                <a:srgbClr val="0F2A43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F2A43"/>
              </a:solidFill>
              <a:ln w="9525" cap="flat">
                <a:solidFill>
                  <a:srgbClr val="0F2A43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100.9</c:v>
                </c:pt>
                <c:pt idx="2">
                  <c:v>97.6</c:v>
                </c:pt>
                <c:pt idx="3">
                  <c:v>51.4</c:v>
                </c:pt>
                <c:pt idx="4">
                  <c:v>31.1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04D-43EF-9346-75A94C50A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7083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7083"/>
                    </a:solidFill>
                    <a:latin typeface="+mn-lt"/>
                  </a:rPr>
                  <a:t>Threads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9525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708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F2A43"/>
                </a:solidFill>
                <a:latin typeface="+mn-lt"/>
              </a:defRPr>
            </a:pPr>
            <a:r>
              <a:rPr lang="en-IN" sz="1400" b="1" i="0" u="none" strike="noStrike">
                <a:solidFill>
                  <a:srgbClr val="0F2A43"/>
                </a:solidFill>
                <a:latin typeface="+mn-lt"/>
              </a:rPr>
              <a:t>Time (ms), original sweep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CUDA kernel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2A4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1024²</c:v>
                </c:pt>
                <c:pt idx="1">
                  <c:v>2048²</c:v>
                </c:pt>
                <c:pt idx="2">
                  <c:v>4096²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0.55000000000000004</c:v>
                </c:pt>
                <c:pt idx="1">
                  <c:v>2.19</c:v>
                </c:pt>
                <c:pt idx="2">
                  <c:v>8.75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8A-4665-88C4-8A189912A2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end-to-end</c:v>
                </c:pt>
              </c:strCache>
            </c:strRef>
          </c:tx>
          <c:spPr>
            <a:solidFill>
              <a:srgbClr val="0F2A43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2A4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1024²</c:v>
                </c:pt>
                <c:pt idx="1">
                  <c:v>2048²</c:v>
                </c:pt>
                <c:pt idx="2">
                  <c:v>4096²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3.64</c:v>
                </c:pt>
                <c:pt idx="1">
                  <c:v>13.85</c:v>
                </c:pt>
                <c:pt idx="2">
                  <c:v>50.61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8A-4665-88C4-8A189912A2C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CPU 16 threads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2A4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1024²</c:v>
                </c:pt>
                <c:pt idx="1">
                  <c:v>2048²</c:v>
                </c:pt>
                <c:pt idx="2">
                  <c:v>4096²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0.54</c:v>
                </c:pt>
                <c:pt idx="1">
                  <c:v>2.35</c:v>
                </c:pt>
                <c:pt idx="2">
                  <c:v>8.44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8A-4665-88C4-8A189912A2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708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24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team topic and the five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51560"/>
            <a:ext cx="49377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CPU vs GPU Data Processing  |  Lab Evaluation  |  Team 10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CPU vs GPU Data Processing  |  Lab Evaluation  |  Team 10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51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chemeClr val="bg1"/>
                </a:solidFill>
              </a:rPr>
              <a:t>CPU vs GPU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chemeClr val="bg1"/>
                </a:solidFill>
              </a:rPr>
              <a:t>Data Processing</a:t>
            </a:r>
            <a:endParaRPr lang="en-US" sz="42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640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PARALLEL COMPUTING MINI-PROJECT  |  LAB EVALUATION</a:t>
            </a:r>
            <a:endParaRPr lang="en-US" sz="12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606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2D Convolution using OpenMP and CUDA</a:t>
            </a:r>
            <a:endParaRPr lang="en-US" sz="20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Team 7   |   Guide: Srushti Gani</a:t>
            </a:r>
            <a:endParaRPr lang="en-US" sz="1400" dirty="0"/>
          </a:p>
        </p:txBody>
      </p:sp>
      <p:sp>
        <p:nvSpPr>
          <p:cNvPr id="7" name="CPU Card"/>
          <p:cNvSpPr/>
          <p:nvPr/>
        </p:nvSpPr>
        <p:spPr>
          <a:xfrm>
            <a:off x="5989320" y="73152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2"/>
                </a:solidFill>
              </a:rPr>
              <a:t>CPU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OpenMP threads</a:t>
            </a:r>
            <a:endParaRPr lang="en-US" sz="1400" dirty="0"/>
          </a:p>
        </p:txBody>
      </p:sp>
      <p:sp>
        <p:nvSpPr>
          <p:cNvPr id="8" name="GPU Card"/>
          <p:cNvSpPr/>
          <p:nvPr/>
        </p:nvSpPr>
        <p:spPr>
          <a:xfrm>
            <a:off x="5989320" y="274320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2"/>
                </a:solidFill>
              </a:rPr>
              <a:t>GPU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CUDA thread blocks</a:t>
            </a:r>
            <a:endParaRPr lang="en-US" sz="1400" dirty="0"/>
          </a:p>
        </p:txBody>
      </p:sp>
      <p:sp>
        <p:nvSpPr>
          <p:cNvPr id="9" name="VS Badge"/>
          <p:cNvSpPr/>
          <p:nvPr/>
        </p:nvSpPr>
        <p:spPr>
          <a:xfrm>
            <a:off x="6903720" y="2240280"/>
            <a:ext cx="822960" cy="8229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vs</a:t>
            </a:r>
            <a:endParaRPr lang="en-US" sz="16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42AA60-0F14-AB26-DA52-4792D67EA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219561"/>
              </p:ext>
            </p:extLst>
          </p:nvPr>
        </p:nvGraphicFramePr>
        <p:xfrm>
          <a:off x="581297" y="3611880"/>
          <a:ext cx="3193870" cy="13716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596935">
                  <a:extLst>
                    <a:ext uri="{9D8B030D-6E8A-4147-A177-3AD203B41FA5}">
                      <a16:colId xmlns:a16="http://schemas.microsoft.com/office/drawing/2014/main" val="102151952"/>
                    </a:ext>
                  </a:extLst>
                </a:gridCol>
                <a:gridCol w="1596935">
                  <a:extLst>
                    <a:ext uri="{9D8B030D-6E8A-4147-A177-3AD203B41FA5}">
                      <a16:colId xmlns:a16="http://schemas.microsoft.com/office/drawing/2014/main" val="2067338504"/>
                    </a:ext>
                  </a:extLst>
                </a:gridCol>
              </a:tblGrid>
              <a:tr h="178308">
                <a:tc>
                  <a:txBody>
                    <a:bodyPr/>
                    <a:lstStyle/>
                    <a:p>
                      <a:r>
                        <a:rPr lang="en-IN" baseline="-2500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aseline="-25000" dirty="0">
                          <a:solidFill>
                            <a:schemeClr val="bg1"/>
                          </a:solidFill>
                        </a:rPr>
                        <a:t>USN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653473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r>
                        <a:rPr lang="en-IN" baseline="-25000" dirty="0">
                          <a:solidFill>
                            <a:schemeClr val="bg1"/>
                          </a:solidFill>
                        </a:rPr>
                        <a:t>Nupur </a:t>
                      </a:r>
                      <a:r>
                        <a:rPr lang="en-IN" baseline="-25000" dirty="0" err="1">
                          <a:solidFill>
                            <a:schemeClr val="bg1"/>
                          </a:solidFill>
                        </a:rPr>
                        <a:t>Bagave</a:t>
                      </a:r>
                      <a:endParaRPr lang="en-IN" baseline="-25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aseline="-25000" dirty="0">
                          <a:solidFill>
                            <a:schemeClr val="bg1"/>
                          </a:solidFill>
                        </a:rPr>
                        <a:t>01FE24BCI029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113347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r>
                        <a:rPr lang="en-IN" baseline="-25000" dirty="0">
                          <a:solidFill>
                            <a:schemeClr val="bg1"/>
                          </a:solidFill>
                        </a:rPr>
                        <a:t>Vedant Khot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aseline="-25000" dirty="0">
                          <a:solidFill>
                            <a:schemeClr val="bg1"/>
                          </a:solidFill>
                        </a:rPr>
                        <a:t>01FE24BCI028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462788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r>
                        <a:rPr lang="en-IN" baseline="-25000" dirty="0">
                          <a:solidFill>
                            <a:schemeClr val="bg1"/>
                          </a:solidFill>
                        </a:rPr>
                        <a:t>Parth Karpe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aseline="-25000" dirty="0">
                          <a:solidFill>
                            <a:schemeClr val="bg1"/>
                          </a:solidFill>
                        </a:rPr>
                        <a:t>01FE24BCI062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009409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r>
                        <a:rPr lang="en-IN" baseline="-25000" dirty="0">
                          <a:solidFill>
                            <a:schemeClr val="bg1"/>
                          </a:solidFill>
                        </a:rPr>
                        <a:t>Hrishikesh Patil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aseline="-25000" dirty="0">
                          <a:solidFill>
                            <a:schemeClr val="bg1"/>
                          </a:solidFill>
                        </a:rPr>
                        <a:t>01FE24BCI043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059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 and Objectives</a:t>
            </a:r>
            <a:endParaRPr lang="en-US" sz="30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3291840" cy="338328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  <p:txBody>
          <a:bodyPr wrap="square" lIns="203200" tIns="203200" rIns="203200" bIns="2032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PROBLEM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Run the same numerical operation on CPU threads (OpenMP) and on the GPU (CUDA), then compare performance</a:t>
            </a:r>
            <a:endParaRPr lang="en-US" sz="1400" dirty="0"/>
          </a:p>
        </p:txBody>
      </p:sp>
      <p:sp>
        <p:nvSpPr>
          <p:cNvPr id="4" name="Objective Row 1"/>
          <p:cNvSpPr/>
          <p:nvPr/>
        </p:nvSpPr>
        <p:spPr>
          <a:xfrm>
            <a:off x="4023360" y="1188720"/>
            <a:ext cx="466344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Objective Number 1"/>
          <p:cNvSpPr/>
          <p:nvPr/>
        </p:nvSpPr>
        <p:spPr>
          <a:xfrm>
            <a:off x="4133088" y="12801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Objective Text 1"/>
          <p:cNvSpPr txBox="1"/>
          <p:nvPr/>
        </p:nvSpPr>
        <p:spPr>
          <a:xfrm>
            <a:off x="4663440" y="118872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Parallelize a nested-loop numerical workload on a multicore CPU</a:t>
            </a:r>
            <a:endParaRPr lang="en-US" sz="1400" dirty="0"/>
          </a:p>
        </p:txBody>
      </p:sp>
      <p:sp>
        <p:nvSpPr>
          <p:cNvPr id="7" name="Objective Row 2"/>
          <p:cNvSpPr/>
          <p:nvPr/>
        </p:nvSpPr>
        <p:spPr>
          <a:xfrm>
            <a:off x="4023360" y="1883664"/>
            <a:ext cx="466344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Objective Number 2"/>
          <p:cNvSpPr/>
          <p:nvPr/>
        </p:nvSpPr>
        <p:spPr>
          <a:xfrm>
            <a:off x="4133088" y="197510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Objective Text 2"/>
          <p:cNvSpPr txBox="1"/>
          <p:nvPr/>
        </p:nvSpPr>
        <p:spPr>
          <a:xfrm>
            <a:off x="4663440" y="1883664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Map one output element to one CUDA thread</a:t>
            </a:r>
            <a:endParaRPr lang="en-US" sz="1400" dirty="0"/>
          </a:p>
        </p:txBody>
      </p:sp>
      <p:sp>
        <p:nvSpPr>
          <p:cNvPr id="10" name="Objective Row 3"/>
          <p:cNvSpPr/>
          <p:nvPr/>
        </p:nvSpPr>
        <p:spPr>
          <a:xfrm>
            <a:off x="4023360" y="2578608"/>
            <a:ext cx="466344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Objective Number 3"/>
          <p:cNvSpPr/>
          <p:nvPr/>
        </p:nvSpPr>
        <p:spPr>
          <a:xfrm>
            <a:off x="4133088" y="267004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Objective Text 3"/>
          <p:cNvSpPr txBox="1"/>
          <p:nvPr/>
        </p:nvSpPr>
        <p:spPr>
          <a:xfrm>
            <a:off x="4663440" y="2578608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CPU time, CUDA kernel time and GPU end-to-end time</a:t>
            </a:r>
            <a:endParaRPr lang="en-US" sz="1400" dirty="0"/>
          </a:p>
        </p:txBody>
      </p:sp>
      <p:sp>
        <p:nvSpPr>
          <p:cNvPr id="13" name="Objective Row 4"/>
          <p:cNvSpPr/>
          <p:nvPr/>
        </p:nvSpPr>
        <p:spPr>
          <a:xfrm>
            <a:off x="4023360" y="3273552"/>
            <a:ext cx="466344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Objective Number 4"/>
          <p:cNvSpPr/>
          <p:nvPr/>
        </p:nvSpPr>
        <p:spPr>
          <a:xfrm>
            <a:off x="4133088" y="336499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Objective Text 4"/>
          <p:cNvSpPr txBox="1"/>
          <p:nvPr/>
        </p:nvSpPr>
        <p:spPr>
          <a:xfrm>
            <a:off x="4663440" y="327355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Study effect of matrix size and thread count on time, speedup, efficiency</a:t>
            </a:r>
            <a:endParaRPr lang="en-US" sz="1400" dirty="0"/>
          </a:p>
        </p:txBody>
      </p:sp>
      <p:sp>
        <p:nvSpPr>
          <p:cNvPr id="16" name="Objective Row 5"/>
          <p:cNvSpPr/>
          <p:nvPr/>
        </p:nvSpPr>
        <p:spPr>
          <a:xfrm>
            <a:off x="4023360" y="3968496"/>
            <a:ext cx="466344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Objective Number 5"/>
          <p:cNvSpPr/>
          <p:nvPr/>
        </p:nvSpPr>
        <p:spPr>
          <a:xfrm>
            <a:off x="4133088" y="40599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Objective Text 5"/>
          <p:cNvSpPr txBox="1"/>
          <p:nvPr/>
        </p:nvSpPr>
        <p:spPr>
          <a:xfrm>
            <a:off x="4663440" y="3968496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Verify CPU and GPU outputs element by element</a:t>
            </a:r>
            <a:endParaRPr lang="en-US" sz="1400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23E5EB0-E906-2058-0166-FB4D4ADCC9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2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852EA9B-3A07-6827-213E-14B642B02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524" y="4845265"/>
            <a:ext cx="2629128" cy="2514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Workload: 2D Convolution (3 × 3 Kernel)</a:t>
            </a:r>
            <a:endParaRPr lang="en-US" sz="3000" dirty="0"/>
          </a:p>
        </p:txBody>
      </p:sp>
      <p:sp>
        <p:nvSpPr>
          <p:cNvPr id="3" name="Formula Card"/>
          <p:cNvSpPr/>
          <p:nvPr/>
        </p:nvSpPr>
        <p:spPr>
          <a:xfrm>
            <a:off x="457200" y="1143000"/>
            <a:ext cx="49377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  <p:txBody>
          <a:bodyPr wrap="square" lIns="101600" tIns="203200" rIns="203200" bIns="1016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B[i][j] = Σ Σ A[i+r][j+c] × K[r][c]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for r, c = 0..2   |   valid convolution, no padding, stride 1: output is (N−2) × (N−2)</a:t>
            </a:r>
            <a:endParaRPr lang="en-US" sz="1400" dirty="0"/>
          </a:p>
        </p:txBody>
      </p:sp>
      <p:sp>
        <p:nvSpPr>
          <p:cNvPr id="4" name="Facts Card"/>
          <p:cNvSpPr/>
          <p:nvPr/>
        </p:nvSpPr>
        <p:spPr>
          <a:xfrm>
            <a:off x="457200" y="2377440"/>
            <a:ext cx="4937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01600" tIns="203200" rIns="203200" bIns="1016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Kernel [1 0 −1] on every row; 9 multiply-adds per output element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Input: mt19937, seed 42, uniform [0,1), float, identical for CPU and GPU</a:t>
            </a:r>
            <a:endParaRPr lang="en-US" sz="1400" dirty="0"/>
          </a:p>
        </p:txBody>
      </p:sp>
      <p:sp>
        <p:nvSpPr>
          <p:cNvPr id="5" name="Kernel Label"/>
          <p:cNvSpPr txBox="1"/>
          <p:nvPr/>
        </p:nvSpPr>
        <p:spPr>
          <a:xfrm>
            <a:off x="5852160" y="1143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 × 3 KERNEL</a:t>
            </a:r>
            <a:endParaRPr lang="en-US" sz="1200" dirty="0"/>
          </a:p>
        </p:txBody>
      </p:sp>
      <p:sp>
        <p:nvSpPr>
          <p:cNvPr id="6" name="Kernel Cell 00"/>
          <p:cNvSpPr/>
          <p:nvPr/>
        </p:nvSpPr>
        <p:spPr>
          <a:xfrm>
            <a:off x="5989320" y="1417320"/>
            <a:ext cx="777240" cy="576072"/>
          </a:xfrm>
          <a:prstGeom prst="roundRect">
            <a:avLst>
              <a:gd name="adj" fmla="val 1269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Kernel Cell 01"/>
          <p:cNvSpPr/>
          <p:nvPr/>
        </p:nvSpPr>
        <p:spPr>
          <a:xfrm>
            <a:off x="6858000" y="1417320"/>
            <a:ext cx="777240" cy="576072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0</a:t>
            </a:r>
            <a:endParaRPr lang="en-US" sz="2000" dirty="0"/>
          </a:p>
        </p:txBody>
      </p:sp>
      <p:sp>
        <p:nvSpPr>
          <p:cNvPr id="8" name="Kernel Cell 02"/>
          <p:cNvSpPr/>
          <p:nvPr/>
        </p:nvSpPr>
        <p:spPr>
          <a:xfrm>
            <a:off x="7726680" y="1417320"/>
            <a:ext cx="777240" cy="576072"/>
          </a:xfrm>
          <a:prstGeom prst="roundRect">
            <a:avLst>
              <a:gd name="adj" fmla="val 1269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−1</a:t>
            </a:r>
            <a:endParaRPr lang="en-US" sz="2000" dirty="0"/>
          </a:p>
        </p:txBody>
      </p:sp>
      <p:sp>
        <p:nvSpPr>
          <p:cNvPr id="9" name="Kernel Cell 10"/>
          <p:cNvSpPr/>
          <p:nvPr/>
        </p:nvSpPr>
        <p:spPr>
          <a:xfrm>
            <a:off x="5989320" y="2084832"/>
            <a:ext cx="777240" cy="576072"/>
          </a:xfrm>
          <a:prstGeom prst="roundRect">
            <a:avLst>
              <a:gd name="adj" fmla="val 1269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Kernel Cell 11"/>
          <p:cNvSpPr/>
          <p:nvPr/>
        </p:nvSpPr>
        <p:spPr>
          <a:xfrm>
            <a:off x="6858000" y="2084832"/>
            <a:ext cx="777240" cy="576072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0</a:t>
            </a:r>
            <a:endParaRPr lang="en-US" sz="2000" dirty="0"/>
          </a:p>
        </p:txBody>
      </p:sp>
      <p:sp>
        <p:nvSpPr>
          <p:cNvPr id="11" name="Kernel Cell 12"/>
          <p:cNvSpPr/>
          <p:nvPr/>
        </p:nvSpPr>
        <p:spPr>
          <a:xfrm>
            <a:off x="7726680" y="2084832"/>
            <a:ext cx="777240" cy="576072"/>
          </a:xfrm>
          <a:prstGeom prst="roundRect">
            <a:avLst>
              <a:gd name="adj" fmla="val 1269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−1</a:t>
            </a:r>
            <a:endParaRPr lang="en-US" sz="2000" dirty="0"/>
          </a:p>
        </p:txBody>
      </p:sp>
      <p:sp>
        <p:nvSpPr>
          <p:cNvPr id="12" name="Kernel Cell 20"/>
          <p:cNvSpPr/>
          <p:nvPr/>
        </p:nvSpPr>
        <p:spPr>
          <a:xfrm>
            <a:off x="5989320" y="2752344"/>
            <a:ext cx="777240" cy="576072"/>
          </a:xfrm>
          <a:prstGeom prst="roundRect">
            <a:avLst>
              <a:gd name="adj" fmla="val 1269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Kernel Cell 21"/>
          <p:cNvSpPr/>
          <p:nvPr/>
        </p:nvSpPr>
        <p:spPr>
          <a:xfrm>
            <a:off x="6858000" y="2752344"/>
            <a:ext cx="777240" cy="576072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0</a:t>
            </a:r>
            <a:endParaRPr lang="en-US" sz="2000" dirty="0"/>
          </a:p>
        </p:txBody>
      </p:sp>
      <p:sp>
        <p:nvSpPr>
          <p:cNvPr id="14" name="Kernel Cell 22"/>
          <p:cNvSpPr/>
          <p:nvPr/>
        </p:nvSpPr>
        <p:spPr>
          <a:xfrm>
            <a:off x="7726680" y="2752344"/>
            <a:ext cx="777240" cy="576072"/>
          </a:xfrm>
          <a:prstGeom prst="roundRect">
            <a:avLst>
              <a:gd name="adj" fmla="val 1269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−1</a:t>
            </a:r>
            <a:endParaRPr lang="en-US" sz="2000" dirty="0"/>
          </a:p>
        </p:txBody>
      </p:sp>
      <p:graphicFrame>
        <p:nvGraphicFramePr>
          <p:cNvPr id="15" name="Siz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1024 × 1024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1022 × 1022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Small / scaling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2048 × 2048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2046 × 2046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Medium / scaling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4096 × 4096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4094 × 4094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Large / final validation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64709D-886D-F86E-FC9F-037998B1E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524" y="4845265"/>
            <a:ext cx="2629128" cy="2514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Sequential Algorithm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457200" y="1188720"/>
            <a:ext cx="1499616" cy="214884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tep Number 1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Text 1"/>
          <p:cNvSpPr txBox="1"/>
          <p:nvPr/>
        </p:nvSpPr>
        <p:spPr>
          <a:xfrm>
            <a:off x="594360" y="1920240"/>
            <a:ext cx="1243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 input with fixed seed; initialize 3 × 3 kernel</a:t>
            </a:r>
            <a:endParaRPr lang="en-US" sz="1400" dirty="0"/>
          </a:p>
        </p:txBody>
      </p:sp>
      <p:sp>
        <p:nvSpPr>
          <p:cNvPr id="6" name="Step Card 2"/>
          <p:cNvSpPr/>
          <p:nvPr/>
        </p:nvSpPr>
        <p:spPr>
          <a:xfrm>
            <a:off x="2139696" y="1188720"/>
            <a:ext cx="1499616" cy="214884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tep Number 2"/>
          <p:cNvSpPr/>
          <p:nvPr/>
        </p:nvSpPr>
        <p:spPr>
          <a:xfrm>
            <a:off x="2276856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Text 2"/>
          <p:cNvSpPr txBox="1"/>
          <p:nvPr/>
        </p:nvSpPr>
        <p:spPr>
          <a:xfrm>
            <a:off x="2276856" y="1920240"/>
            <a:ext cx="1243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Compute output dimensions (N−K+1) × (N−K+1)</a:t>
            </a:r>
            <a:endParaRPr lang="en-US" sz="1400" dirty="0"/>
          </a:p>
        </p:txBody>
      </p:sp>
      <p:sp>
        <p:nvSpPr>
          <p:cNvPr id="9" name="Step Card 3"/>
          <p:cNvSpPr/>
          <p:nvPr/>
        </p:nvSpPr>
        <p:spPr>
          <a:xfrm>
            <a:off x="3822192" y="1188720"/>
            <a:ext cx="1499616" cy="214884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tep Number 3"/>
          <p:cNvSpPr/>
          <p:nvPr/>
        </p:nvSpPr>
        <p:spPr>
          <a:xfrm>
            <a:off x="3959352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Text 3"/>
          <p:cNvSpPr txBox="1"/>
          <p:nvPr/>
        </p:nvSpPr>
        <p:spPr>
          <a:xfrm>
            <a:off x="3959352" y="1920240"/>
            <a:ext cx="1243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 each output (i, j): sum = 0</a:t>
            </a:r>
            <a:endParaRPr lang="en-US" sz="1400" dirty="0"/>
          </a:p>
        </p:txBody>
      </p:sp>
      <p:sp>
        <p:nvSpPr>
          <p:cNvPr id="12" name="Step Card 4"/>
          <p:cNvSpPr/>
          <p:nvPr/>
        </p:nvSpPr>
        <p:spPr>
          <a:xfrm>
            <a:off x="5504688" y="1188720"/>
            <a:ext cx="1499616" cy="214884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tep Number 4"/>
          <p:cNvSpPr/>
          <p:nvPr/>
        </p:nvSpPr>
        <p:spPr>
          <a:xfrm>
            <a:off x="5641848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Text 4"/>
          <p:cNvSpPr txBox="1"/>
          <p:nvPr/>
        </p:nvSpPr>
        <p:spPr>
          <a:xfrm>
            <a:off x="5641848" y="1920240"/>
            <a:ext cx="1243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 r, c in 0..2: sum += A[i+r][j+c] × K[r][c]</a:t>
            </a:r>
            <a:endParaRPr lang="en-US" sz="1400" dirty="0"/>
          </a:p>
        </p:txBody>
      </p:sp>
      <p:sp>
        <p:nvSpPr>
          <p:cNvPr id="15" name="Step Card 5"/>
          <p:cNvSpPr/>
          <p:nvPr/>
        </p:nvSpPr>
        <p:spPr>
          <a:xfrm>
            <a:off x="7187184" y="1188720"/>
            <a:ext cx="1499616" cy="214884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tep Number 5"/>
          <p:cNvSpPr/>
          <p:nvPr/>
        </p:nvSpPr>
        <p:spPr>
          <a:xfrm>
            <a:off x="7324344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Text 5"/>
          <p:cNvSpPr txBox="1"/>
          <p:nvPr/>
        </p:nvSpPr>
        <p:spPr>
          <a:xfrm>
            <a:off x="7324344" y="1920240"/>
            <a:ext cx="1243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Store sum 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B[i][j]</a:t>
            </a:r>
            <a:endParaRPr lang="en-US" sz="1400" dirty="0"/>
          </a:p>
        </p:txBody>
      </p:sp>
      <p:sp>
        <p:nvSpPr>
          <p:cNvPr id="18" name="Parallelism Callout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/>
        </p:spPr>
        <p:txBody>
          <a:bodyPr wrap="square" lIns="101600" tIns="228600" rIns="228600" bIns="10160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Each output element depends only on its input window, so all outputs are independent and ideal for parallelism.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88D1E6-414A-6126-5A91-1C11B4B4A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524" y="4845265"/>
            <a:ext cx="2629128" cy="2514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Parallel Design: OpenMP (CPU)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457200" y="1188720"/>
            <a:ext cx="5029200" cy="3383280"/>
          </a:xfrm>
          <a:prstGeom prst="roundRect">
            <a:avLst>
              <a:gd name="adj" fmla="val 270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Code Label"/>
          <p:cNvSpPr txBox="1"/>
          <p:nvPr/>
        </p:nvSpPr>
        <p:spPr>
          <a:xfrm>
            <a:off x="68580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C++ / OPENMP</a:t>
            </a:r>
            <a:endParaRPr lang="en-US" sz="1100" dirty="0"/>
          </a:p>
        </p:txBody>
      </p:sp>
      <p:sp>
        <p:nvSpPr>
          <p:cNvPr id="5" name="Code Block"/>
          <p:cNvSpPr txBox="1"/>
          <p:nvPr/>
        </p:nvSpPr>
        <p:spPr>
          <a:xfrm>
            <a:off x="685800" y="16459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 for collapse(2)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outRows; ++i)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j = 0; j &lt; outCols; ++j) {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sum = 0.0f;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r = 0; r &lt; 3; ++r)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(int c = 0; c &lt; 3; ++c)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 += in[(i+r)*N + (j+c)]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* k[r*3 + c];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out[i*outCols + j] = sum;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</p:txBody>
      </p:sp>
      <p:sp>
        <p:nvSpPr>
          <p:cNvPr id="6" name="Collapse Card"/>
          <p:cNvSpPr/>
          <p:nvPr/>
        </p:nvSpPr>
        <p:spPr>
          <a:xfrm>
            <a:off x="5760720" y="1188720"/>
            <a:ext cx="29260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collapse(2) merges both loops into one iteration space</a:t>
            </a:r>
            <a:endParaRPr lang="en-US" sz="1400" dirty="0"/>
          </a:p>
        </p:txBody>
      </p:sp>
      <p:sp>
        <p:nvSpPr>
          <p:cNvPr id="7" name="Memory Card"/>
          <p:cNvSpPr/>
          <p:nvPr/>
        </p:nvSpPr>
        <p:spPr>
          <a:xfrm>
            <a:off x="5760720" y="2377440"/>
            <a:ext cx="29260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Shared host memory: no data transfer</a:t>
            </a:r>
            <a:endParaRPr lang="en-US" sz="1400" dirty="0"/>
          </a:p>
        </p:txBody>
      </p:sp>
      <p:sp>
        <p:nvSpPr>
          <p:cNvPr id="8" name="Threads Card"/>
          <p:cNvSpPr/>
          <p:nvPr/>
        </p:nvSpPr>
        <p:spPr>
          <a:xfrm>
            <a:off x="5760720" y="3566160"/>
            <a:ext cx="2926080" cy="1005840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hreads Label"/>
          <p:cNvSpPr txBox="1"/>
          <p:nvPr/>
        </p:nvSpPr>
        <p:spPr>
          <a:xfrm>
            <a:off x="594360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Thread counts tested</a:t>
            </a:r>
            <a:endParaRPr lang="en-US" sz="1400" dirty="0"/>
          </a:p>
        </p:txBody>
      </p:sp>
      <p:sp>
        <p:nvSpPr>
          <p:cNvPr id="10" name="Thread Chip 1"/>
          <p:cNvSpPr/>
          <p:nvPr/>
        </p:nvSpPr>
        <p:spPr>
          <a:xfrm>
            <a:off x="5943600" y="40690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hread Chip 2"/>
          <p:cNvSpPr/>
          <p:nvPr/>
        </p:nvSpPr>
        <p:spPr>
          <a:xfrm>
            <a:off x="6473952" y="40690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hread Chip 4"/>
          <p:cNvSpPr/>
          <p:nvPr/>
        </p:nvSpPr>
        <p:spPr>
          <a:xfrm>
            <a:off x="7004304" y="40690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Thread Chip 8"/>
          <p:cNvSpPr/>
          <p:nvPr/>
        </p:nvSpPr>
        <p:spPr>
          <a:xfrm>
            <a:off x="7534656" y="40690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8</a:t>
            </a:r>
            <a:endParaRPr lang="en-US" sz="1300" dirty="0"/>
          </a:p>
        </p:txBody>
      </p:sp>
      <p:sp>
        <p:nvSpPr>
          <p:cNvPr id="14" name="Thread Chip 16"/>
          <p:cNvSpPr/>
          <p:nvPr/>
        </p:nvSpPr>
        <p:spPr>
          <a:xfrm>
            <a:off x="8065008" y="40690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80F809-D261-E038-943F-600AC48C1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524" y="4845265"/>
            <a:ext cx="2629128" cy="2514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Parallel Design: CUDA (GPU)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16 × 16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256 threads per block</a:t>
            </a:r>
            <a:endParaRPr lang="en-US" sz="1400" dirty="0"/>
          </a:p>
        </p:txBody>
      </p:sp>
      <p:sp>
        <p:nvSpPr>
          <p:cNvPr id="4" name="Stat Card 2"/>
          <p:cNvSpPr/>
          <p:nvPr/>
        </p:nvSpPr>
        <p:spPr>
          <a:xfrm>
            <a:off x="329184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256 × 256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blocks for a 4096² grid</a:t>
            </a:r>
            <a:endParaRPr lang="en-US" sz="1400" dirty="0"/>
          </a:p>
        </p:txBody>
      </p:sp>
      <p:sp>
        <p:nvSpPr>
          <p:cNvPr id="5" name="Stat Card 3"/>
          <p:cNvSpPr/>
          <p:nvPr/>
        </p:nvSpPr>
        <p:spPr>
          <a:xfrm>
            <a:off x="612648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sm_86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target architecture</a:t>
            </a:r>
            <a:endParaRPr lang="en-US" sz="1400" dirty="0"/>
          </a:p>
        </p:txBody>
      </p:sp>
      <p:sp>
        <p:nvSpPr>
          <p:cNvPr id="6" name="Mapping Card"/>
          <p:cNvSpPr/>
          <p:nvPr/>
        </p:nvSpPr>
        <p:spPr>
          <a:xfrm>
            <a:off x="457200" y="242316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 wrap="square" lIns="101600" tIns="228600" rIns="228600" bIns="1016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One thread computes one output element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x = blockIdx.x·blockDim.x + threadIdx.x (same for y); guard: x &lt; N−2 &amp;&amp; y &lt; N−2</a:t>
            </a:r>
            <a:endParaRPr lang="en-US" sz="1400" dirty="0"/>
          </a:p>
        </p:txBody>
      </p:sp>
      <p:sp>
        <p:nvSpPr>
          <p:cNvPr id="7" name="Kernel Time Card"/>
          <p:cNvSpPr/>
          <p:nvPr/>
        </p:nvSpPr>
        <p:spPr>
          <a:xfrm>
            <a:off x="457200" y="342900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/>
        </p:spPr>
        <p:txBody>
          <a:bodyPr wrap="square" lIns="101600" tIns="152400" rIns="1524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Kernel 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GPU computation only</a:t>
            </a:r>
            <a:endParaRPr lang="en-US" sz="1400" dirty="0"/>
          </a:p>
        </p:txBody>
      </p:sp>
      <p:sp>
        <p:nvSpPr>
          <p:cNvPr id="8" name="End To End Card"/>
          <p:cNvSpPr/>
          <p:nvPr/>
        </p:nvSpPr>
        <p:spPr>
          <a:xfrm>
            <a:off x="4663440" y="342900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/>
        </p:spPr>
        <p:txBody>
          <a:bodyPr wrap="square" lIns="101600" tIns="152400" rIns="1524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End-to-end 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host→device copy + kernel + device→host copy</a:t>
            </a:r>
            <a:endParaRPr lang="en-US" sz="1400" dirty="0"/>
          </a:p>
        </p:txBody>
      </p:sp>
      <p:sp>
        <p:nvSpPr>
          <p:cNvPr id="9" name="Key Idea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Comparing kernel time with end-to-end time is the key idea of this experiment.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OpenMP vs CUDA</a:t>
            </a:r>
            <a:endParaRPr lang="en-US" sz="3000" dirty="0"/>
          </a:p>
        </p:txBody>
      </p:sp>
      <p:graphicFrame>
        <p:nvGraphicFramePr>
          <p:cNvPr id="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3284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Aspect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OpenMP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CUDA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Hardware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Multicore CPU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NVIDIA GPU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Parallel unit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CPU threads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GPU threads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Memory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Shared host memory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GPU global + host memory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Style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Directives + runtime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Kernel + grid/block/thread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Variable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 2, 4, 8, 16 threads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 × 16 blocks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Main overhead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Scheduling, memory bandwidth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Kernel launch, host-device transfers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29FBB-69AC-C05A-1F0A-518489897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524" y="4845265"/>
            <a:ext cx="2629128" cy="2514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Experimental Setup and Methodology</a:t>
            </a:r>
            <a:endParaRPr lang="en-US" sz="3000" dirty="0"/>
          </a:p>
        </p:txBody>
      </p:sp>
      <p:sp>
        <p:nvSpPr>
          <p:cNvPr id="3" name="Setup Card PLATFORM"/>
          <p:cNvSpPr/>
          <p:nvPr/>
        </p:nvSpPr>
        <p:spPr>
          <a:xfrm>
            <a:off x="457200" y="118872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etup Label PLATFORM"/>
          <p:cNvSpPr txBox="1"/>
          <p:nvPr/>
        </p:nvSpPr>
        <p:spPr>
          <a:xfrm>
            <a:off x="594360" y="12984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PLATFORM</a:t>
            </a:r>
            <a:endParaRPr lang="en-US" sz="1200" dirty="0"/>
          </a:p>
        </p:txBody>
      </p:sp>
      <p:sp>
        <p:nvSpPr>
          <p:cNvPr id="5" name="Setup Text PLATFORM"/>
          <p:cNvSpPr txBox="1"/>
          <p:nvPr/>
        </p:nvSpPr>
        <p:spPr>
          <a:xfrm>
            <a:off x="594360" y="1600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Windows 11, i5-13450HX, 16 GB RAM, RTX 3050 6GB (driver 581.95)</a:t>
            </a:r>
            <a:endParaRPr lang="en-US" sz="1400" dirty="0"/>
          </a:p>
        </p:txBody>
      </p:sp>
      <p:sp>
        <p:nvSpPr>
          <p:cNvPr id="6" name="Setup Card TOOLCHAIN"/>
          <p:cNvSpPr/>
          <p:nvPr/>
        </p:nvSpPr>
        <p:spPr>
          <a:xfrm>
            <a:off x="3154680" y="118872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etup Label TOOLCHAIN"/>
          <p:cNvSpPr txBox="1"/>
          <p:nvPr/>
        </p:nvSpPr>
        <p:spPr>
          <a:xfrm>
            <a:off x="3291840" y="12984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TOOLCHAIN</a:t>
            </a:r>
            <a:endParaRPr lang="en-US" sz="1200" dirty="0"/>
          </a:p>
        </p:txBody>
      </p:sp>
      <p:sp>
        <p:nvSpPr>
          <p:cNvPr id="8" name="Setup Text TOOLCHAIN"/>
          <p:cNvSpPr txBox="1"/>
          <p:nvPr/>
        </p:nvSpPr>
        <p:spPr>
          <a:xfrm>
            <a:off x="3291840" y="1600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CUDA Toolkit 13.4 (nvcc 13.4.92), MSVC 19.51, arch sm_86</a:t>
            </a:r>
            <a:endParaRPr lang="en-US" sz="1400" dirty="0"/>
          </a:p>
        </p:txBody>
      </p:sp>
      <p:sp>
        <p:nvSpPr>
          <p:cNvPr id="9" name="Setup Card BUILD"/>
          <p:cNvSpPr/>
          <p:nvPr/>
        </p:nvSpPr>
        <p:spPr>
          <a:xfrm>
            <a:off x="457200" y="297180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etup Label BUILD"/>
          <p:cNvSpPr txBox="1"/>
          <p:nvPr/>
        </p:nvSpPr>
        <p:spPr>
          <a:xfrm>
            <a:off x="594360" y="3081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BUILD</a:t>
            </a:r>
            <a:endParaRPr lang="en-US" sz="1200" dirty="0"/>
          </a:p>
        </p:txBody>
      </p:sp>
      <p:sp>
        <p:nvSpPr>
          <p:cNvPr id="11" name="Setup Card RUN"/>
          <p:cNvSpPr/>
          <p:nvPr/>
        </p:nvSpPr>
        <p:spPr>
          <a:xfrm>
            <a:off x="3154680" y="297180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etup Label RUN"/>
          <p:cNvSpPr txBox="1"/>
          <p:nvPr/>
        </p:nvSpPr>
        <p:spPr>
          <a:xfrm>
            <a:off x="3291840" y="3081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RUN</a:t>
            </a:r>
            <a:endParaRPr lang="en-US" sz="1200" dirty="0"/>
          </a:p>
        </p:txBody>
      </p:sp>
      <p:sp>
        <p:nvSpPr>
          <p:cNvPr id="13" name="Build Commands"/>
          <p:cNvSpPr txBox="1"/>
          <p:nvPr/>
        </p:nvSpPr>
        <p:spPr>
          <a:xfrm>
            <a:off x="59436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 /O2 /openmp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nvcc -O3 -arch=sm_86 -Xcompiler="/openmp"</a:t>
            </a:r>
            <a:endParaRPr lang="en-US" sz="1100" dirty="0"/>
          </a:p>
        </p:txBody>
      </p:sp>
      <p:sp>
        <p:nvSpPr>
          <p:cNvPr id="14" name="Run Command"/>
          <p:cNvSpPr txBox="1"/>
          <p:nvPr/>
        </p:nvSpPr>
        <p:spPr>
          <a:xfrm>
            <a:off x="329184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convolution_experiment.exe &lt;size&gt; &lt;threads&gt;</a:t>
            </a:r>
            <a:endParaRPr lang="en-US" sz="1100" dirty="0"/>
          </a:p>
        </p:txBody>
      </p:sp>
      <p:sp>
        <p:nvSpPr>
          <p:cNvPr id="15" name="Runs Card"/>
          <p:cNvSpPr/>
          <p:nvPr/>
        </p:nvSpPr>
        <p:spPr>
          <a:xfrm>
            <a:off x="5760720" y="1188720"/>
            <a:ext cx="292608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15 runs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3 sizes × 5 thread counts</a:t>
            </a:r>
            <a:endParaRPr lang="en-US" sz="1400" dirty="0"/>
          </a:p>
        </p:txBody>
      </p:sp>
      <p:sp>
        <p:nvSpPr>
          <p:cNvPr id="16" name="Metrics Card"/>
          <p:cNvSpPr/>
          <p:nvPr/>
        </p:nvSpPr>
        <p:spPr>
          <a:xfrm>
            <a:off x="5760720" y="2971800"/>
            <a:ext cx="2926080" cy="160020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  <p:txBody>
          <a:bodyPr wrap="square" lIns="101600" tIns="203200" rIns="2032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METRICS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Speedup = T(1) / T(p)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Efficiency = Speedup / p × 100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9F68EB4-CE35-4814-F9EA-A8DDACA99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524" y="4845265"/>
            <a:ext cx="2629128" cy="2514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Correctness Verification</a:t>
            </a:r>
            <a:endParaRPr lang="en-US" sz="3000" dirty="0"/>
          </a:p>
        </p:txBody>
      </p:sp>
      <p:sp>
        <p:nvSpPr>
          <p:cNvPr id="3" name="Verify Stat Max error"/>
          <p:cNvSpPr/>
          <p:nvPr/>
        </p:nvSpPr>
        <p:spPr>
          <a:xfrm>
            <a:off x="45720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Max error</a:t>
            </a:r>
            <a:endParaRPr lang="en-US" sz="1400" dirty="0"/>
          </a:p>
        </p:txBody>
      </p:sp>
      <p:sp>
        <p:nvSpPr>
          <p:cNvPr id="4" name="Verify Stat Mean error"/>
          <p:cNvSpPr/>
          <p:nvPr/>
        </p:nvSpPr>
        <p:spPr>
          <a:xfrm>
            <a:off x="256032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Mean error</a:t>
            </a:r>
            <a:endParaRPr lang="en-US" sz="1400" dirty="0"/>
          </a:p>
        </p:txBody>
      </p:sp>
      <p:sp>
        <p:nvSpPr>
          <p:cNvPr id="5" name="Verify Stat Mismatches"/>
          <p:cNvSpPr/>
          <p:nvPr/>
        </p:nvSpPr>
        <p:spPr>
          <a:xfrm>
            <a:off x="466344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Mismatches</a:t>
            </a:r>
            <a:endParaRPr lang="en-US" sz="1400" dirty="0"/>
          </a:p>
        </p:txBody>
      </p:sp>
      <p:sp>
        <p:nvSpPr>
          <p:cNvPr id="6" name="Verify Stat Status"/>
          <p:cNvSpPr/>
          <p:nvPr/>
        </p:nvSpPr>
        <p:spPr>
          <a:xfrm>
            <a:off x="676656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accent1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</a:rPr>
              <a:t>PASS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Status</a:t>
            </a:r>
            <a:endParaRPr lang="en-US" sz="1400" dirty="0"/>
          </a:p>
        </p:txBody>
      </p:sp>
      <p:sp>
        <p:nvSpPr>
          <p:cNvPr id="7" name="Check Row 1"/>
          <p:cNvSpPr/>
          <p:nvPr/>
        </p:nvSpPr>
        <p:spPr>
          <a:xfrm>
            <a:off x="457200" y="2743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Check Mark 1"/>
          <p:cNvSpPr/>
          <p:nvPr/>
        </p:nvSpPr>
        <p:spPr>
          <a:xfrm>
            <a:off x="594360" y="2834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Check Text 1"/>
          <p:cNvSpPr txBox="1"/>
          <p:nvPr/>
        </p:nvSpPr>
        <p:spPr>
          <a:xfrm>
            <a:off x="1188720" y="2743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CPU output element compared with the GPU output; tolerance |diff| ≤ 1e-5</a:t>
            </a:r>
            <a:endParaRPr lang="en-US" sz="1400" dirty="0"/>
          </a:p>
        </p:txBody>
      </p:sp>
      <p:sp>
        <p:nvSpPr>
          <p:cNvPr id="10" name="Check Row 2"/>
          <p:cNvSpPr/>
          <p:nvPr/>
        </p:nvSpPr>
        <p:spPr>
          <a:xfrm>
            <a:off x="457200" y="3429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Check Mark 2"/>
          <p:cNvSpPr/>
          <p:nvPr/>
        </p:nvSpPr>
        <p:spPr>
          <a:xfrm>
            <a:off x="594360" y="3520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Check Text 2"/>
          <p:cNvSpPr txBox="1"/>
          <p:nvPr/>
        </p:nvSpPr>
        <p:spPr>
          <a:xfrm>
            <a:off x="1188720" y="3429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First 10 output values also identical in both program outputs</a:t>
            </a:r>
            <a:endParaRPr lang="en-US" sz="1400" dirty="0"/>
          </a:p>
        </p:txBody>
      </p:sp>
      <p:sp>
        <p:nvSpPr>
          <p:cNvPr id="13" name="Verification Note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Result holds for all 15 recorded runs and the 3 validation runs.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B76BD-F366-75E9-7711-5E2ADF2B0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524" y="4845265"/>
            <a:ext cx="2629128" cy="2514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Results: CPU Scaling (4096 × 4096)</a:t>
            </a:r>
            <a:endParaRPr lang="en-US" sz="3000" dirty="0"/>
          </a:p>
        </p:txBody>
      </p:sp>
      <p:graphicFrame>
        <p:nvGraphicFramePr>
          <p:cNvPr id="11" name="Scal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931920" cy="252374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Threads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Time (ms)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Speedup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Efficiency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42.02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20.81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2.02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100.9%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10.76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3.91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97.6%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10.21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4.11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51.4%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8.44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4.98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31.1%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/>
        </p:nvGraphicFramePr>
        <p:xfrm>
          <a:off x="4572000" y="109728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caling Callout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accent5"/>
          </a:solidFill>
          <a:ln/>
        </p:spPr>
        <p:txBody>
          <a:bodyPr wrap="square" lIns="101600" tIns="152400" rIns="152400" bIns="10160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Near-linear up to 4 threads, then diminishing returns.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C077B-8DF1-7687-15FA-4B5F15FC3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524" y="4845265"/>
            <a:ext cx="2629128" cy="2514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CPU Efficiency vs Thread Count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8463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Efficiency Note 1"/>
          <p:cNvSpPr/>
          <p:nvPr/>
        </p:nvSpPr>
        <p:spPr>
          <a:xfrm>
            <a:off x="5486400" y="1097280"/>
            <a:ext cx="3200400" cy="795528"/>
          </a:xfrm>
          <a:prstGeom prst="roundRect">
            <a:avLst>
              <a:gd name="adj" fmla="val 11494"/>
            </a:avLst>
          </a:prstGeom>
          <a:solidFill>
            <a:schemeClr val="bg2"/>
          </a:solidFill>
          <a:ln/>
        </p:spPr>
        <p:txBody>
          <a:bodyPr wrap="square" lIns="50800" tIns="152400" rIns="1524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Falls from ~98% (4 threads) to ~31% (16 threads) at 4096²</a:t>
            </a:r>
            <a:endParaRPr lang="en-US" sz="1400" dirty="0"/>
          </a:p>
        </p:txBody>
      </p:sp>
      <p:sp>
        <p:nvSpPr>
          <p:cNvPr id="5" name="Efficiency Note 2"/>
          <p:cNvSpPr/>
          <p:nvPr/>
        </p:nvSpPr>
        <p:spPr>
          <a:xfrm>
            <a:off x="5486400" y="1984248"/>
            <a:ext cx="3200400" cy="795528"/>
          </a:xfrm>
          <a:prstGeom prst="roundRect">
            <a:avLst>
              <a:gd name="adj" fmla="val 11494"/>
            </a:avLst>
          </a:prstGeom>
          <a:solidFill>
            <a:schemeClr val="bg2"/>
          </a:solidFill>
          <a:ln/>
        </p:spPr>
        <p:txBody>
          <a:bodyPr wrap="square" lIns="50800" tIns="152400" rIns="1524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Causes: memory bandwidth, scheduling overhead, cache behavior</a:t>
            </a:r>
            <a:endParaRPr lang="en-US" sz="1400" dirty="0"/>
          </a:p>
        </p:txBody>
      </p:sp>
      <p:sp>
        <p:nvSpPr>
          <p:cNvPr id="6" name="Efficiency Note 3"/>
          <p:cNvSpPr/>
          <p:nvPr/>
        </p:nvSpPr>
        <p:spPr>
          <a:xfrm>
            <a:off x="5486400" y="2871216"/>
            <a:ext cx="3200400" cy="795528"/>
          </a:xfrm>
          <a:prstGeom prst="roundRect">
            <a:avLst>
              <a:gd name="adj" fmla="val 11494"/>
            </a:avLst>
          </a:prstGeom>
          <a:solidFill>
            <a:schemeClr val="bg2"/>
          </a:solidFill>
          <a:ln/>
        </p:spPr>
        <p:txBody>
          <a:bodyPr wrap="square" lIns="50800" tIns="152400" rIns="1524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Small 1024² input cannot keep many threads busy</a:t>
            </a:r>
            <a:endParaRPr lang="en-US" sz="1400" dirty="0"/>
          </a:p>
        </p:txBody>
      </p:sp>
      <p:sp>
        <p:nvSpPr>
          <p:cNvPr id="7" name="Efficiency Note 4"/>
          <p:cNvSpPr/>
          <p:nvPr/>
        </p:nvSpPr>
        <p:spPr>
          <a:xfrm>
            <a:off x="5486400" y="3758184"/>
            <a:ext cx="3200400" cy="795528"/>
          </a:xfrm>
          <a:prstGeom prst="roundRect">
            <a:avLst>
              <a:gd name="adj" fmla="val 11494"/>
            </a:avLst>
          </a:prstGeom>
          <a:solidFill>
            <a:schemeClr val="accent5"/>
          </a:solidFill>
          <a:ln/>
        </p:spPr>
        <p:txBody>
          <a:bodyPr wrap="square" lIns="50800" tIns="152400" rIns="1524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Values above 100% are timing noise (frequency, scheduling), not true super-linear scaling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573FE4-AD41-F8E4-2B79-241134C47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524" y="4845265"/>
            <a:ext cx="2629128" cy="2514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Results: GPU Kernel vs End-to-End</a:t>
            </a:r>
            <a:endParaRPr lang="en-US" sz="3000" dirty="0"/>
          </a:p>
        </p:txBody>
      </p:sp>
      <p:sp>
        <p:nvSpPr>
          <p:cNvPr id="3" name="GPU Stat 1"/>
          <p:cNvSpPr/>
          <p:nvPr/>
        </p:nvSpPr>
        <p:spPr>
          <a:xfrm>
            <a:off x="457200" y="1097280"/>
            <a:ext cx="3383280" cy="1097280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/>
        </p:spPr>
        <p:txBody>
          <a:bodyPr wrap="square" lIns="76200" tIns="177800" rIns="177800" bIns="7620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3.96×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Kernel is faster than 1-thread CPU at 4096²</a:t>
            </a:r>
            <a:endParaRPr lang="en-US" sz="1400" dirty="0"/>
          </a:p>
        </p:txBody>
      </p:sp>
      <p:sp>
        <p:nvSpPr>
          <p:cNvPr id="4" name="GPU Stat 2"/>
          <p:cNvSpPr/>
          <p:nvPr/>
        </p:nvSpPr>
        <p:spPr>
          <a:xfrm>
            <a:off x="457200" y="2286000"/>
            <a:ext cx="3383280" cy="1097280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/>
        </p:spPr>
        <p:txBody>
          <a:bodyPr wrap="square" lIns="76200" tIns="177800" rIns="177800" bIns="7620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0.15–0.82×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End-to-end speedup is below 1×: transfers cost more than the compute saved</a:t>
            </a:r>
            <a:endParaRPr lang="en-US" sz="1400" dirty="0"/>
          </a:p>
        </p:txBody>
      </p:sp>
      <p:sp>
        <p:nvSpPr>
          <p:cNvPr id="5" name="GPU Stat 3"/>
          <p:cNvSpPr/>
          <p:nvPr/>
        </p:nvSpPr>
        <p:spPr>
          <a:xfrm>
            <a:off x="457200" y="3474720"/>
            <a:ext cx="33832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  <p:txBody>
          <a:bodyPr wrap="square" lIns="76200" tIns="177800" rIns="177800" bIns="7620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multiply-adds per element: low compute per byte moved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023360" y="1097280"/>
          <a:ext cx="46634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Final Validated Run: 4096² with 16 Threads</a:t>
            </a:r>
            <a:endParaRPr lang="en-US" sz="3000" dirty="0"/>
          </a:p>
        </p:txBody>
      </p:sp>
      <p:graphicFrame>
        <p:nvGraphicFramePr>
          <p:cNvPr id="14" name="Final Ru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03520" cy="1883664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Run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CPU ms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Kernel ms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End-to-end ms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Kernel speedup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7.083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0.977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16.458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7.25×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7.193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0.978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16.644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7.36×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7.146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0.977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17.747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7.31×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Average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7.141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0.977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16.949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7.31×</a:t>
                      </a:r>
                      <a:endParaRPr lang="en-US" sz="1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Warmup Note"/>
          <p:cNvSpPr/>
          <p:nvPr/>
        </p:nvSpPr>
        <p:spPr>
          <a:xfrm>
            <a:off x="457200" y="3291840"/>
            <a:ext cx="530352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 wrap="square" lIns="76200" tIns="177800" rIns="177800" bIns="762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NOTE ON THE EARLIER SWEEP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earlier sweep showed ≈ 8.75 ms kernel time for this configuration; the repeated controlled run is reported as the validated result (probable cause: GPU warm-up / power state, not isolated)</a:t>
            </a:r>
            <a:endParaRPr lang="en-US" sz="1400" dirty="0"/>
          </a:p>
        </p:txBody>
      </p:sp>
      <p:sp>
        <p:nvSpPr>
          <p:cNvPr id="5" name="Kernel Speedup Stat"/>
          <p:cNvSpPr/>
          <p:nvPr/>
        </p:nvSpPr>
        <p:spPr>
          <a:xfrm>
            <a:off x="6035040" y="118872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≈ 7.31×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kernel speedup</a:t>
            </a:r>
            <a:endParaRPr lang="en-US" sz="1400" dirty="0"/>
          </a:p>
        </p:txBody>
      </p:sp>
      <p:sp>
        <p:nvSpPr>
          <p:cNvPr id="6" name="End To End Stat"/>
          <p:cNvSpPr/>
          <p:nvPr/>
        </p:nvSpPr>
        <p:spPr>
          <a:xfrm>
            <a:off x="6035040" y="251460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2"/>
                </a:solidFill>
              </a:rPr>
              <a:t>≈ 0.42×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end-to-end speedup</a:t>
            </a:r>
            <a:endParaRPr lang="en-US" sz="1400" dirty="0"/>
          </a:p>
        </p:txBody>
      </p:sp>
      <p:sp>
        <p:nvSpPr>
          <p:cNvPr id="7" name="All Pass Card"/>
          <p:cNvSpPr/>
          <p:nvPr/>
        </p:nvSpPr>
        <p:spPr>
          <a:xfrm>
            <a:off x="6035040" y="3840480"/>
            <a:ext cx="265176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  <p:txBody>
          <a:bodyPr wrap="square" lIns="101600" tIns="152400" rIns="152400" bIns="1016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All runs PASS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2E7D20-FD8E-40E2-C9E3-447DB409D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524" y="4845265"/>
            <a:ext cx="2629128" cy="2514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Key Observations and Discussion</a:t>
            </a:r>
            <a:endParaRPr lang="en-US" sz="3000" dirty="0"/>
          </a:p>
        </p:txBody>
      </p:sp>
      <p:sp>
        <p:nvSpPr>
          <p:cNvPr id="3" name="Observation Card 1"/>
          <p:cNvSpPr/>
          <p:nvPr/>
        </p:nvSpPr>
        <p:spPr>
          <a:xfrm>
            <a:off x="457200" y="1143000"/>
            <a:ext cx="2624328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Observation Number 1"/>
          <p:cNvSpPr/>
          <p:nvPr/>
        </p:nvSpPr>
        <p:spPr>
          <a:xfrm>
            <a:off x="621792" y="1307592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Observation Text 1"/>
          <p:cNvSpPr txBox="1"/>
          <p:nvPr/>
        </p:nvSpPr>
        <p:spPr>
          <a:xfrm>
            <a:off x="621792" y="1783080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OpenMP scales well to 4 threads; efficiency drops beyond that</a:t>
            </a:r>
            <a:endParaRPr lang="en-US" sz="1500" dirty="0"/>
          </a:p>
        </p:txBody>
      </p:sp>
      <p:sp>
        <p:nvSpPr>
          <p:cNvPr id="6" name="Observation Card 2"/>
          <p:cNvSpPr/>
          <p:nvPr/>
        </p:nvSpPr>
        <p:spPr>
          <a:xfrm>
            <a:off x="3259836" y="1143000"/>
            <a:ext cx="2624328" cy="1691640"/>
          </a:xfrm>
          <a:prstGeom prst="roundRect">
            <a:avLst>
              <a:gd name="adj" fmla="val 5405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Observation Number 2"/>
          <p:cNvSpPr/>
          <p:nvPr/>
        </p:nvSpPr>
        <p:spPr>
          <a:xfrm>
            <a:off x="3424428" y="130759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Observation Text 2"/>
          <p:cNvSpPr txBox="1"/>
          <p:nvPr/>
        </p:nvSpPr>
        <p:spPr>
          <a:xfrm>
            <a:off x="3424428" y="1783080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CUDA kernel is up to ~7.3× faster than 16-thread CPU compute (validated run)</a:t>
            </a:r>
            <a:endParaRPr lang="en-US" sz="1500" dirty="0"/>
          </a:p>
        </p:txBody>
      </p:sp>
      <p:sp>
        <p:nvSpPr>
          <p:cNvPr id="9" name="Observation Card 3"/>
          <p:cNvSpPr/>
          <p:nvPr/>
        </p:nvSpPr>
        <p:spPr>
          <a:xfrm>
            <a:off x="6062472" y="1143000"/>
            <a:ext cx="2624328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Observation Number 3"/>
          <p:cNvSpPr/>
          <p:nvPr/>
        </p:nvSpPr>
        <p:spPr>
          <a:xfrm>
            <a:off x="6227064" y="1307592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Observation Text 3"/>
          <p:cNvSpPr txBox="1"/>
          <p:nvPr/>
        </p:nvSpPr>
        <p:spPr>
          <a:xfrm>
            <a:off x="6227064" y="1783080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Data transfer dominates GPU end-to-end time for this low-arithmetic workload</a:t>
            </a:r>
            <a:endParaRPr lang="en-US" sz="1500" dirty="0"/>
          </a:p>
        </p:txBody>
      </p:sp>
      <p:sp>
        <p:nvSpPr>
          <p:cNvPr id="12" name="Observation Card 4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Observation Number 4"/>
          <p:cNvSpPr/>
          <p:nvPr/>
        </p:nvSpPr>
        <p:spPr>
          <a:xfrm>
            <a:off x="621792" y="31821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Observation Text 4"/>
          <p:cNvSpPr txBox="1"/>
          <p:nvPr/>
        </p:nvSpPr>
        <p:spPr>
          <a:xfrm>
            <a:off x="621792" y="3657600"/>
            <a:ext cx="3694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GPU pays off when data stays on the device across many operations or compute per byte is higher</a:t>
            </a:r>
            <a:endParaRPr lang="en-US" sz="1500" dirty="0"/>
          </a:p>
        </p:txBody>
      </p:sp>
      <p:sp>
        <p:nvSpPr>
          <p:cNvPr id="15" name="Observation Card 5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Observation Number 5"/>
          <p:cNvSpPr/>
          <p:nvPr/>
        </p:nvSpPr>
        <p:spPr>
          <a:xfrm>
            <a:off x="4828032" y="3182112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Observation Text 5"/>
          <p:cNvSpPr txBox="1"/>
          <p:nvPr/>
        </p:nvSpPr>
        <p:spPr>
          <a:xfrm>
            <a:off x="4828032" y="3657600"/>
            <a:ext cx="3694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Larger matrices give more parallel work but also more data to move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B24A41-13C8-DA40-04C1-348C57442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524" y="4845265"/>
            <a:ext cx="2629128" cy="2514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Repository</a:t>
            </a:r>
            <a:endParaRPr lang="en-US" sz="3000" dirty="0"/>
          </a:p>
        </p:txBody>
      </p:sp>
      <p:sp>
        <p:nvSpPr>
          <p:cNvPr id="3" name="Conclusion Row 1"/>
          <p:cNvSpPr/>
          <p:nvPr/>
        </p:nvSpPr>
        <p:spPr>
          <a:xfrm>
            <a:off x="457200" y="1097280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Conclusion Number 1"/>
          <p:cNvSpPr/>
          <p:nvPr/>
        </p:nvSpPr>
        <p:spPr>
          <a:xfrm>
            <a:off x="566928" y="121615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onclusion Text 1"/>
          <p:cNvSpPr txBox="1"/>
          <p:nvPr/>
        </p:nvSpPr>
        <p:spPr>
          <a:xfrm>
            <a:off x="1097280" y="10972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CPU and GPU results match exactly (0 mismatches in all runs)</a:t>
            </a:r>
            <a:endParaRPr lang="en-US" sz="1400" dirty="0"/>
          </a:p>
        </p:txBody>
      </p:sp>
      <p:sp>
        <p:nvSpPr>
          <p:cNvPr id="6" name="Conclusion Row 2"/>
          <p:cNvSpPr/>
          <p:nvPr/>
        </p:nvSpPr>
        <p:spPr>
          <a:xfrm>
            <a:off x="457200" y="1810512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Conclusion Number 2"/>
          <p:cNvSpPr/>
          <p:nvPr/>
        </p:nvSpPr>
        <p:spPr>
          <a:xfrm>
            <a:off x="566928" y="192938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Conclusion Text 2"/>
          <p:cNvSpPr txBox="1"/>
          <p:nvPr/>
        </p:nvSpPr>
        <p:spPr>
          <a:xfrm>
            <a:off x="1097280" y="18105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CPU: ~5× speedup at 16 threads; GPU: ~7.3× kernel speedup but ~0.42× end-to-end</a:t>
            </a:r>
            <a:endParaRPr lang="en-US" sz="1400" dirty="0"/>
          </a:p>
        </p:txBody>
      </p:sp>
      <p:sp>
        <p:nvSpPr>
          <p:cNvPr id="9" name="Conclusion Row 3"/>
          <p:cNvSpPr/>
          <p:nvPr/>
        </p:nvSpPr>
        <p:spPr>
          <a:xfrm>
            <a:off x="457200" y="2523744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Conclusion Number 3"/>
          <p:cNvSpPr/>
          <p:nvPr/>
        </p:nvSpPr>
        <p:spPr>
          <a:xfrm>
            <a:off x="566928" y="2642616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Conclusion Text 3"/>
          <p:cNvSpPr txBox="1"/>
          <p:nvPr/>
        </p:nvSpPr>
        <p:spPr>
          <a:xfrm>
            <a:off x="1097280" y="252374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Lesson: always report kernel time and end-to-end time separately</a:t>
            </a:r>
            <a:endParaRPr lang="en-US" sz="1400" dirty="0"/>
          </a:p>
        </p:txBody>
      </p:sp>
      <p:sp>
        <p:nvSpPr>
          <p:cNvPr id="12" name="Conclusion Row 4"/>
          <p:cNvSpPr/>
          <p:nvPr/>
        </p:nvSpPr>
        <p:spPr>
          <a:xfrm>
            <a:off x="457200" y="3236976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Conclusion Number 4"/>
          <p:cNvSpPr/>
          <p:nvPr/>
        </p:nvSpPr>
        <p:spPr>
          <a:xfrm>
            <a:off x="566928" y="335584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Conclusion Text 4"/>
          <p:cNvSpPr txBox="1"/>
          <p:nvPr/>
        </p:nvSpPr>
        <p:spPr>
          <a:xfrm>
            <a:off x="1097280" y="323697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Future work: shared-memory tiling, pinned memory, streams to overlap transfers, batched images</a:t>
            </a:r>
            <a:endParaRPr lang="en-US" sz="1400" dirty="0"/>
          </a:p>
        </p:txBody>
      </p:sp>
      <p:sp>
        <p:nvSpPr>
          <p:cNvPr id="18" name="Final Stat 1"/>
          <p:cNvSpPr/>
          <p:nvPr/>
        </p:nvSpPr>
        <p:spPr>
          <a:xfrm>
            <a:off x="6126480" y="1097280"/>
            <a:ext cx="256032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~5×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CPU speedup, 16 threads</a:t>
            </a:r>
            <a:endParaRPr lang="en-US" sz="1400" dirty="0"/>
          </a:p>
        </p:txBody>
      </p:sp>
      <p:sp>
        <p:nvSpPr>
          <p:cNvPr id="19" name="Final Stat 2"/>
          <p:cNvSpPr/>
          <p:nvPr/>
        </p:nvSpPr>
        <p:spPr>
          <a:xfrm>
            <a:off x="6126480" y="2057400"/>
            <a:ext cx="256032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~7.3×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GPU kernel speedup</a:t>
            </a:r>
            <a:endParaRPr lang="en-US" sz="1400" dirty="0"/>
          </a:p>
        </p:txBody>
      </p:sp>
      <p:sp>
        <p:nvSpPr>
          <p:cNvPr id="20" name="Final Stat 3"/>
          <p:cNvSpPr/>
          <p:nvPr/>
        </p:nvSpPr>
        <p:spPr>
          <a:xfrm>
            <a:off x="6126480" y="3017520"/>
            <a:ext cx="25603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~0.42×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GPU end-to-end speedup</a:t>
            </a:r>
            <a:endParaRPr lang="en-US" sz="1400" dirty="0"/>
          </a:p>
        </p:txBody>
      </p:sp>
      <p:sp>
        <p:nvSpPr>
          <p:cNvPr id="21" name="Thank You"/>
          <p:cNvSpPr txBox="1"/>
          <p:nvPr/>
        </p:nvSpPr>
        <p:spPr>
          <a:xfrm>
            <a:off x="30632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Thank you. Questions?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9E3C1B-9126-0FD9-2D41-E8F03E74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881" y="4771234"/>
            <a:ext cx="2758679" cy="2667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vLab">
  <a:themeElements>
    <a:clrScheme name="ConvLab">
      <a:dk1>
        <a:srgbClr val="1B2B3A"/>
      </a:dk1>
      <a:lt1>
        <a:srgbClr val="FFFFFF"/>
      </a:lt1>
      <a:dk2>
        <a:srgbClr val="0F2A43"/>
      </a:dk2>
      <a:lt2>
        <a:srgbClr val="EEF4F7"/>
      </a:lt2>
      <a:accent1>
        <a:srgbClr val="14B8A6"/>
      </a:accent1>
      <a:accent2>
        <a:srgbClr val="F5A524"/>
      </a:accent2>
      <a:accent3>
        <a:srgbClr val="5B7083"/>
      </a:accent3>
      <a:accent4>
        <a:srgbClr val="DDF3F0"/>
      </a:accent4>
      <a:accent5>
        <a:srgbClr val="FDF0D6"/>
      </a:accent5>
      <a:accent6>
        <a:srgbClr val="2E86AB"/>
      </a:accent6>
      <a:hlink>
        <a:srgbClr val="2E86AB"/>
      </a:hlink>
      <a:folHlink>
        <a:srgbClr val="5B7083"/>
      </a:folHlink>
    </a:clrScheme>
    <a:fontScheme name="Conv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1310</Words>
  <Application>Microsoft Office PowerPoint</Application>
  <PresentationFormat>On-screen Show (16:9)</PresentationFormat>
  <Paragraphs>292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ConvLab</vt:lpstr>
      <vt:lpstr>CPU vs GPU Data Processing</vt:lpstr>
      <vt:lpstr>Problem Statement and Objectives</vt:lpstr>
      <vt:lpstr>Workload: 2D Convolution (3 × 3 Kernel)</vt:lpstr>
      <vt:lpstr>Sequential Algorithm</vt:lpstr>
      <vt:lpstr>Parallel Design: OpenMP (CPU)</vt:lpstr>
      <vt:lpstr>Parallel Design: CUDA (GPU)</vt:lpstr>
      <vt:lpstr>OpenMP vs CUDA</vt:lpstr>
      <vt:lpstr>Experimental Setup and Methodology</vt:lpstr>
      <vt:lpstr>Correctness Verification</vt:lpstr>
      <vt:lpstr>Results: CPU Scaling (4096 × 4096)</vt:lpstr>
      <vt:lpstr>CPU Efficiency vs Thread Count</vt:lpstr>
      <vt:lpstr>Results: GPU Kernel vs End-to-End</vt:lpstr>
      <vt:lpstr>Final Validated Run: 4096² with 16 Threads</vt:lpstr>
      <vt:lpstr>Key Observations and Discussion</vt:lpstr>
      <vt:lpstr>Conclusion and Repository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vs GPU Data Processing</dc:title>
  <dc:subject>PptxGenJS Presentation</dc:subject>
  <dc:creator>PptxGenJS</dc:creator>
  <cp:lastModifiedBy>Nupur Bagave</cp:lastModifiedBy>
  <cp:revision>3</cp:revision>
  <dcterms:created xsi:type="dcterms:W3CDTF">2026-10-11T15:25:14Z</dcterms:created>
  <dcterms:modified xsi:type="dcterms:W3CDTF">2026-10-12T04:41:37Z</dcterms:modified>
</cp:coreProperties>
</file>